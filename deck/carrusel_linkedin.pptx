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6858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Hogares</c:v>
                </c:pt>
              </c:strCache>
            </c:strRef>
          </c:tx>
          <c:dPt>
            <c:idx val="0"/>
            <c:spPr>
              <a:solidFill>
                <a:srgbClr val="2A78D6"/>
              </a:solidFill>
              <a:ln>
                <a:noFill/>
              </a:ln>
            </c:spPr>
          </c:dPt>
          <c:dPt>
            <c:idx val="1"/>
            <c:spPr>
              <a:solidFill>
                <a:srgbClr val="2A78D6"/>
              </a:solidFill>
              <a:ln>
                <a:noFill/>
              </a:ln>
            </c:spPr>
          </c:dPt>
          <c:dPt>
            <c:idx val="2"/>
            <c:spPr>
              <a:solidFill>
                <a:srgbClr val="2A78D6"/>
              </a:solidFill>
              <a:ln>
                <a:noFill/>
              </a:ln>
            </c:spPr>
          </c:dPt>
          <c:dPt>
            <c:idx val="3"/>
            <c:spPr>
              <a:solidFill>
                <a:srgbClr val="2A78D6"/>
              </a:solidFill>
              <a:ln>
                <a:noFill/>
              </a:ln>
            </c:spPr>
          </c:dPt>
          <c:dPt>
            <c:idx val="4"/>
            <c:spPr>
              <a:solidFill>
                <a:srgbClr val="C3C2B7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300" b="0">
                        <a:solidFill>
                          <a:srgbClr val="52514E"/>
                        </a:solidFill>
                        <a:latin typeface="Segoe UI"/>
                      </a:rPr>
                      <a:t>+86 mil hogares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300" b="0">
                        <a:solidFill>
                          <a:srgbClr val="52514E"/>
                        </a:solidFill>
                        <a:latin typeface="Segoe UI"/>
                      </a:rPr>
                      <a:t>+46 mil hogares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300" b="0">
                        <a:solidFill>
                          <a:srgbClr val="52514E"/>
                        </a:solidFill>
                        <a:latin typeface="Segoe UI"/>
                      </a:rPr>
                      <a:t>+46 mil hogares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300" b="0">
                        <a:solidFill>
                          <a:srgbClr val="52514E"/>
                        </a:solidFill>
                        <a:latin typeface="Segoe UI"/>
                      </a:rPr>
                      <a:t>+39 mil hogares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300" b="0">
                        <a:solidFill>
                          <a:srgbClr val="52514E"/>
                        </a:solidFill>
                        <a:latin typeface="Segoe UI"/>
                      </a:rPr>
                      <a:t>sin cambio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Vivienda 20% más barata</c:v>
                </c:pt>
                <c:pt idx="1">
                  <c:v>Aceptar independientes</c:v>
                </c:pt>
                <c:pt idx="2">
                  <c:v>30 años y 80% financiado</c:v>
                </c:pt>
                <c:pt idx="3">
                  <c:v>Ahorro para el anticipo</c:v>
                </c:pt>
                <c:pt idx="4">
                  <c:v>Bajar la tasa a 5,5%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85902.82858211</c:v>
                </c:pt>
                <c:pt idx="1">
                  <c:v>46479.974683817156</c:v>
                </c:pt>
                <c:pt idx="2">
                  <c:v>46158.396680504025</c:v>
                </c:pt>
                <c:pt idx="3">
                  <c:v>39468.673741204955</c:v>
                </c:pt>
                <c:pt idx="4">
                  <c:v>0.0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1E0D9"/>
            </a:solidFill>
          </a:ln>
        </c:spPr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37444.525731376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52514E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Hogares</c:v>
                </c:pt>
              </c:strCache>
            </c:strRef>
          </c:tx>
          <c:dPt>
            <c:idx val="0"/>
            <c:spPr>
              <a:solidFill>
                <a:srgbClr val="C3C2B7"/>
              </a:solidFill>
              <a:ln>
                <a:noFill/>
              </a:ln>
            </c:spPr>
          </c:dPt>
          <c:dPt>
            <c:idx val="1"/>
            <c:spPr>
              <a:solidFill>
                <a:srgbClr val="2A78D6"/>
              </a:solidFill>
              <a:ln>
                <a:noFill/>
              </a:ln>
            </c:spPr>
          </c:dPt>
          <c:dPt>
            <c:idx val="2"/>
            <c:spPr>
              <a:solidFill>
                <a:srgbClr val="2A78D6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300" b="0">
                        <a:solidFill>
                          <a:srgbClr val="52514E"/>
                        </a:solidFill>
                        <a:latin typeface="Segoe UI"/>
                      </a:rPr>
                      <a:t>155 mil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300" b="0">
                        <a:solidFill>
                          <a:srgbClr val="52514E"/>
                        </a:solidFill>
                        <a:latin typeface="Segoe UI"/>
                      </a:rPr>
                      <a:t>201 mil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300" b="0">
                        <a:solidFill>
                          <a:srgbClr val="52514E"/>
                        </a:solidFill>
                        <a:latin typeface="Segoe UI"/>
                      </a:rPr>
                      <a:t>259 mil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Hoy: 20 años, 75%</c:v>
                </c:pt>
                <c:pt idx="1">
                  <c:v>30 años, 80%</c:v>
                </c:pt>
                <c:pt idx="2">
                  <c:v>+ independientes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154793.1357999695</c:v>
                </c:pt>
                <c:pt idx="1">
                  <c:v>200951.5324804735</c:v>
                </c:pt>
                <c:pt idx="2">
                  <c:v>258891.0476507487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1E0D9"/>
            </a:solidFill>
          </a:ln>
        </c:spPr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62447.4667110481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52514E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720" y="81153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463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300" b="1">
                <a:solidFill>
                  <a:srgbClr val="2A78D6"/>
                </a:solidFill>
                <a:latin typeface="Segoe UI"/>
              </a:rPr>
              <a:t>CASO DE ANÁLISIS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7607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4400" b="1">
                <a:solidFill>
                  <a:srgbClr val="0B0B0B"/>
                </a:solidFill>
                <a:latin typeface="Segoe UI"/>
              </a:rPr>
              <a:t>¿Quién puede pagar hoy un crédito hipotecario UVA?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80560"/>
            <a:ext cx="5760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900" b="0">
                <a:solidFill>
                  <a:srgbClr val="52514E"/>
                </a:solidFill>
                <a:latin typeface="Segoe UI"/>
              </a:rPr>
              <a:t>Hogares que alquilan en CABA, GBA y Gran Córdoba. Datos públicos del INDEC, BCRA y Zonaprop.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315200"/>
            <a:ext cx="576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1">
                <a:solidFill>
                  <a:srgbClr val="0B0B0B"/>
                </a:solidFill>
                <a:latin typeface="Segoe UI"/>
              </a:rPr>
              <a:t>Santiago Trotta</a:t>
            </a:r>
            <a:r>
              <a:rPr sz="1400" b="0">
                <a:solidFill>
                  <a:srgbClr val="898781"/>
                </a:solidFill>
                <a:latin typeface="Segoe UI"/>
              </a:rPr>
              <a:t>   ·   deslizá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720" y="81153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760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7000" b="1">
                <a:solidFill>
                  <a:srgbClr val="2A78D6"/>
                </a:solidFill>
                <a:latin typeface="Segoe UI"/>
              </a:rPr>
              <a:t>1 de cada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57607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800" b="0">
                <a:solidFill>
                  <a:srgbClr val="0B0B0B"/>
                </a:solidFill>
                <a:latin typeface="Segoe UI"/>
              </a:rPr>
              <a:t>hogares que alquilan podría tomar hoy un crédito hipotecario UVA.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37760"/>
            <a:ext cx="5760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000" b="0">
                <a:solidFill>
                  <a:srgbClr val="52514E"/>
                </a:solidFill>
                <a:latin typeface="Segoe UI"/>
              </a:rPr>
              <a:t>155 mil de 1,2 millones de hogares inquilinos.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97356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Fuente: INDEC (EPH), BCRA, Zonaprop Index; elaboración propia.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720" y="81153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5760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200" b="1">
                <a:solidFill>
                  <a:srgbClr val="0B0B0B"/>
                </a:solidFill>
                <a:latin typeface="Segoe UI"/>
              </a:rPr>
              <a:t>Carla y Diego ganan lo típico y no llegan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400" b="1">
                <a:solidFill>
                  <a:srgbClr val="E34948"/>
                </a:solidFill>
                <a:latin typeface="Segoe UI"/>
              </a:rPr>
              <a:t>33%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2084832"/>
            <a:ext cx="2926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 b="0">
                <a:solidFill>
                  <a:srgbClr val="52514E"/>
                </a:solidFill>
                <a:latin typeface="Segoe UI"/>
              </a:rPr>
              <a:t>del ingreso iría a la cuota hoy (el banco acepta 25%)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2900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800" b="1">
                <a:solidFill>
                  <a:srgbClr val="E34948"/>
                </a:solidFill>
                <a:latin typeface="Segoe UI"/>
              </a:rPr>
              <a:t>$ 44,3 millones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3502152"/>
            <a:ext cx="2926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 b="0">
                <a:solidFill>
                  <a:srgbClr val="52514E"/>
                </a:solidFill>
                <a:latin typeface="Segoe UI"/>
              </a:rPr>
              <a:t>de anticipo y gastos: 7 años ahorrando el 20%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4632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400" b="1">
                <a:solidFill>
                  <a:srgbClr val="E34948"/>
                </a:solidFill>
                <a:latin typeface="Segoe UI"/>
              </a:rPr>
              <a:t>31%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4919472"/>
            <a:ext cx="2926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 b="0">
                <a:solidFill>
                  <a:srgbClr val="52514E"/>
                </a:solidFill>
                <a:latin typeface="Segoe UI"/>
              </a:rPr>
              <a:t>con 30 años y 80% financiado: todavía 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400" b="1">
                <a:solidFill>
                  <a:srgbClr val="2A78D6"/>
                </a:solidFill>
                <a:latin typeface="Segoe UI"/>
              </a:rPr>
              <a:t>24%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6336792"/>
            <a:ext cx="2926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 b="0">
                <a:solidFill>
                  <a:srgbClr val="52514E"/>
                </a:solidFill>
                <a:latin typeface="Segoe UI"/>
              </a:rPr>
              <a:t>con una vivienda 20% más barata: califican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797356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Hogar ilustrativo: pareja con hijos, ingreso $ 2,5 millones, 60 m² en GBA Oeste.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720" y="81153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5760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200" b="1">
                <a:solidFill>
                  <a:srgbClr val="0B0B0B"/>
                </a:solidFill>
                <a:latin typeface="Segoe UI"/>
              </a:rPr>
              <a:t>Lo que frena es el efectivo inicial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2286000"/>
          <a:ext cx="576072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812280"/>
            <a:ext cx="5760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>Hogares elegibles que se suman frente a hoy, cambiando una condición por vez.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97356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Fuente: INDEC (EPH), BCRA, Zonaprop Index; elaboración propia.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720" y="81153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5760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000" b="1">
                <a:solidFill>
                  <a:srgbClr val="0B0B0B"/>
                </a:solidFill>
                <a:latin typeface="Segoe UI"/>
              </a:rPr>
              <a:t>Un producto mejor diseñado suma hogares sin subir la cuota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2468880"/>
          <a:ext cx="576072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217920"/>
            <a:ext cx="5760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700" b="0">
                <a:solidFill>
                  <a:srgbClr val="52514E"/>
                </a:solidFill>
                <a:latin typeface="Segoe UI"/>
              </a:rPr>
              <a:t>Monotributistas y autónomos con aportes, en una línea separada con su propia política de riesgo.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97356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Fuente: INDEC (EPH), BCRA, Zonaprop Index; elaboración propia. Tope de cuota 25%.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720" y="81153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5760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000" b="1">
                <a:solidFill>
                  <a:srgbClr val="0B0B0B"/>
                </a:solidFill>
                <a:latin typeface="Segoe UI"/>
              </a:rPr>
              <a:t>Si la UVA le gana a los sueldos, la cuota pesa más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5760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6000" b="1">
                <a:solidFill>
                  <a:srgbClr val="52514E"/>
                </a:solidFill>
                <a:latin typeface="Segoe UI"/>
              </a:rPr>
              <a:t>25%</a:t>
            </a:r>
            <a:r>
              <a:rPr sz="6000" b="1">
                <a:solidFill>
                  <a:srgbClr val="898781"/>
                </a:solidFill>
                <a:latin typeface="Segoe UI"/>
              </a:rPr>
              <a:t>  →  </a:t>
            </a:r>
            <a:r>
              <a:rPr sz="6000" b="1">
                <a:solidFill>
                  <a:srgbClr val="E34948"/>
                </a:solidFill>
                <a:latin typeface="Segoe UI"/>
              </a:rPr>
              <a:t>32,9%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66160"/>
            <a:ext cx="5760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000" b="0">
                <a:solidFill>
                  <a:srgbClr val="52514E"/>
                </a:solidFill>
                <a:latin typeface="Segoe UI"/>
              </a:rPr>
              <a:t>del ingreso para la cuota, en dos años, en un crédito tomado en septiembre de 2023.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0"/>
            <a:ext cx="5760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 b="0">
                <a:solidFill>
                  <a:srgbClr val="52514E"/>
                </a:solidFill>
                <a:latin typeface="Segoe UI"/>
              </a:rPr>
              <a:t>El 11% de los períodos de 24 meses desde 2016 terminó por encima del 30%.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sz="1800" b="1">
                <a:solidFill>
                  <a:srgbClr val="0B0B0B"/>
                </a:solidFill>
                <a:latin typeface="Segoe UI"/>
              </a:rPr>
              <a:t>Por eso conviene no subir el tope de cuota.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97356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Fuente: BCRA (UVA), INDEC (índice de salarios registrados); elaboración propia.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720" y="81153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576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300" b="1">
                <a:solidFill>
                  <a:srgbClr val="2A78D6"/>
                </a:solidFill>
                <a:latin typeface="Segoe UI"/>
              </a:rPr>
              <a:t>RECOMENDACIÓN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7607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800" b="1">
                <a:solidFill>
                  <a:srgbClr val="0B0B0B"/>
                </a:solidFill>
                <a:latin typeface="Segoe UI"/>
              </a:rPr>
              <a:t>Crédito a 30 años, 80% financiado y cuota hasta 25%, con foco en hogares con dos ingresos y una línea para independientes.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0"/>
            <a:ext cx="5760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800" b="0">
                <a:solidFill>
                  <a:srgbClr val="52514E"/>
                </a:solidFill>
                <a:latin typeface="Segoe UI"/>
              </a:rPr>
              <a:t>•  De 155 mil a 259 mil hogares elegibles</a:t>
            </a:r>
          </a:p>
          <a:p>
            <a:pPr>
              <a:lnSpc>
                <a:spcPct val="140000"/>
              </a:lnSpc>
            </a:pPr>
            <a:r>
              <a:rPr sz="1800" b="0">
                <a:solidFill>
                  <a:srgbClr val="52514E"/>
                </a:solidFill>
                <a:latin typeface="Segoe UI"/>
              </a:rPr>
              <a:t>•  Baja el efectivo inicial que hay que juntar</a:t>
            </a:r>
          </a:p>
          <a:p>
            <a:pPr>
              <a:lnSpc>
                <a:spcPct val="140000"/>
              </a:lnSpc>
            </a:pPr>
            <a:r>
              <a:rPr sz="1800" b="0">
                <a:solidFill>
                  <a:srgbClr val="52514E"/>
                </a:solidFill>
                <a:latin typeface="Segoe UI"/>
              </a:rPr>
              <a:t>•  Mantiene el tope de cuota frente al riesgo de desacople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97356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Caso con banco ficticio. No es asesoramiento financiero.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720" y="81153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760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600" b="1">
                <a:solidFill>
                  <a:srgbClr val="0B0B0B"/>
                </a:solidFill>
                <a:latin typeface="Segoe UI"/>
              </a:rPr>
              <a:t>Recorré el caso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57607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2000" b="0">
                <a:solidFill>
                  <a:srgbClr val="52514E"/>
                </a:solidFill>
                <a:latin typeface="Segoe UI"/>
              </a:rPr>
              <a:t>•  Dashboard con simulador</a:t>
            </a:r>
          </a:p>
          <a:p>
            <a:pPr>
              <a:lnSpc>
                <a:spcPct val="150000"/>
              </a:lnSpc>
            </a:pPr>
            <a:r>
              <a:rPr sz="2000" b="0">
                <a:solidFill>
                  <a:srgbClr val="52514E"/>
                </a:solidFill>
                <a:latin typeface="Segoe UI"/>
              </a:rPr>
              <a:t>•  Resumen en simple</a:t>
            </a:r>
          </a:p>
          <a:p>
            <a:pPr>
              <a:lnSpc>
                <a:spcPct val="150000"/>
              </a:lnSpc>
            </a:pPr>
            <a:r>
              <a:rPr sz="2000" b="0">
                <a:solidFill>
                  <a:srgbClr val="52514E"/>
                </a:solidFill>
                <a:latin typeface="Segoe UI"/>
              </a:rPr>
              <a:t>•  Código, documentación y fuentes en GitHub</a:t>
            </a:r>
          </a:p>
          <a:p>
            <a:pPr>
              <a:lnSpc>
                <a:spcPct val="150000"/>
              </a:lnSpc>
            </a:pPr>
            <a:r>
              <a:rPr sz="2000" b="0">
                <a:solidFill>
                  <a:srgbClr val="52514E"/>
                </a:solidFill>
                <a:latin typeface="Segoe UI"/>
              </a:rPr>
              <a:t>•  Decisiones y controles en cada etapa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766560"/>
            <a:ext cx="5760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 b="1">
                <a:solidFill>
                  <a:srgbClr val="0B0B0B"/>
                </a:solidFill>
                <a:latin typeface="Segoe UI"/>
              </a:rPr>
              <a:t>Santiago Trotta</a:t>
            </a:r>
            <a:r>
              <a:rPr sz="1600" b="0">
                <a:solidFill>
                  <a:srgbClr val="898781"/>
                </a:solidFill>
                <a:latin typeface="Segoe UI"/>
              </a:rPr>
              <a:t>  ·  link en el post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Slides>8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¿Quién puede pagar hoy un crédito hipotecario UVA?</dc:title>
  <dc:subject>Caso de análisis de datos</dc:subject>
  <dc:creator>Santiago Trotta</dc:creator>
  <cp:keywords>crédito hipotecario, UVA, EPH, vivienda</cp:keywords>
  <dc:description/>
  <cp:lastModifiedBy>Santiago Trotta</cp:lastModifiedBy>
  <cp:revision>1</cp:revision>
  <dcterms:created xsi:type="dcterms:W3CDTF">2026-09-13T00:00:00Z</dcterms:created>
  <dcterms:modified xsi:type="dcterms:W3CDTF">2026-09-13T00:00:00Z</dcterms:modified>
  <cp:category/>
</cp:coreProperties>
</file>