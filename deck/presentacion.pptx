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Hogares</c:v>
                </c:pt>
              </c:strCache>
            </c:strRef>
          </c:tx>
          <c:dPt>
            <c:idx val="0"/>
            <c:spPr>
              <a:solidFill>
                <a:srgbClr val="86B6EF"/>
              </a:solidFill>
              <a:ln>
                <a:noFill/>
              </a:ln>
            </c:spPr>
          </c:dPt>
          <c:dPt>
            <c:idx val="1"/>
            <c:spPr>
              <a:solidFill>
                <a:srgbClr val="5598E7"/>
              </a:solidFill>
              <a:ln>
                <a:noFill/>
              </a:ln>
            </c:spPr>
          </c:dPt>
          <c:dPt>
            <c:idx val="2"/>
            <c:spPr>
              <a:solidFill>
                <a:srgbClr val="3987E5"/>
              </a:solidFill>
              <a:ln>
                <a:noFill/>
              </a:ln>
            </c:spPr>
          </c:dPt>
          <c:dPt>
            <c:idx val="3"/>
            <c:spPr>
              <a:solidFill>
                <a:srgbClr val="256ABF"/>
              </a:solidFill>
              <a:ln>
                <a:noFill/>
              </a:ln>
            </c:spPr>
          </c:dPt>
          <c:dPt>
            <c:idx val="4"/>
            <c:spPr>
              <a:solidFill>
                <a:srgbClr val="184F95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300" b="0">
                        <a:solidFill>
                          <a:srgbClr val="52514E"/>
                        </a:solidFill>
                        <a:latin typeface="Segoe UI"/>
                      </a:rPr>
                      <a:t>1,2 millones · 100,0%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300" b="0">
                        <a:solidFill>
                          <a:srgbClr val="52514E"/>
                        </a:solidFill>
                        <a:latin typeface="Segoe UI"/>
                      </a:rPr>
                      <a:t>275 mil · 22,1%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300" b="0">
                        <a:solidFill>
                          <a:srgbClr val="52514E"/>
                        </a:solidFill>
                        <a:latin typeface="Segoe UI"/>
                      </a:rPr>
                      <a:t>220 mil · 17,7%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>
                <c:rich>
                  <a:bodyPr/>
                  <a:lstStyle/>
                  <a:p>
                    <a:r>
                      <a:rPr sz="1300" b="0">
                        <a:solidFill>
                          <a:srgbClr val="52514E"/>
                        </a:solidFill>
                        <a:latin typeface="Segoe UI"/>
                      </a:rPr>
                      <a:t>156 mil · 12,6%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4"/>
              <c:tx>
                <c:rich>
                  <a:bodyPr/>
                  <a:lstStyle/>
                  <a:p>
                    <a:r>
                      <a:rPr sz="1300" b="0">
                        <a:solidFill>
                          <a:srgbClr val="52514E"/>
                        </a:solidFill>
                        <a:latin typeface="Segoe UI"/>
                      </a:rPr>
                      <a:t>155 mil · 12,4%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Hogares inquilinos</c:v>
                </c:pt>
                <c:pt idx="1">
                  <c:v>Pagan la cuota</c:v>
                </c:pt>
                <c:pt idx="2">
                  <c:v>Juntan el anticipo</c:v>
                </c:pt>
                <c:pt idx="3">
                  <c:v>Ingreso demostrable</c:v>
                </c:pt>
                <c:pt idx="4">
                  <c:v>Cumplen la edad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1244787.75</c:v>
                </c:pt>
                <c:pt idx="1">
                  <c:v>275350.0650022897</c:v>
                </c:pt>
                <c:pt idx="2">
                  <c:v>219882.47949652438</c:v>
                </c:pt>
                <c:pt idx="3">
                  <c:v>156403.07097965802</c:v>
                </c:pt>
                <c:pt idx="4">
                  <c:v>154793.1357999695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1E0D9"/>
            </a:solidFill>
          </a:ln>
        </c:spPr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80463.4625000001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52514E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Hogares</c:v>
                </c:pt>
              </c:strCache>
            </c:strRef>
          </c:tx>
          <c:dPt>
            <c:idx val="0"/>
            <c:spPr>
              <a:solidFill>
                <a:srgbClr val="C3C2B7"/>
              </a:solidFill>
              <a:ln>
                <a:noFill/>
              </a:ln>
            </c:spPr>
          </c:dPt>
          <c:dPt>
            <c:idx val="1"/>
            <c:spPr>
              <a:solidFill>
                <a:srgbClr val="2A78D6"/>
              </a:solidFill>
              <a:ln>
                <a:noFill/>
              </a:ln>
            </c:spPr>
          </c:dPt>
          <c:dPt>
            <c:idx val="2"/>
            <c:spPr>
              <a:solidFill>
                <a:srgbClr val="2A78D6"/>
              </a:solidFill>
              <a:ln>
                <a:noFill/>
              </a:ln>
            </c:spPr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sz="1300" b="0">
                        <a:solidFill>
                          <a:srgbClr val="52514E"/>
                        </a:solidFill>
                        <a:latin typeface="Segoe UI"/>
                      </a:rPr>
                      <a:t>155 mil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/>
                  <a:lstStyle/>
                  <a:p>
                    <a:r>
                      <a:rPr sz="1300" b="0">
                        <a:solidFill>
                          <a:srgbClr val="52514E"/>
                        </a:solidFill>
                        <a:latin typeface="Segoe UI"/>
                      </a:rPr>
                      <a:t>201 mil (+30%)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/>
                  <a:lstStyle/>
                  <a:p>
                    <a:r>
                      <a:rPr sz="1300" b="0">
                        <a:solidFill>
                          <a:srgbClr val="52514E"/>
                        </a:solidFill>
                        <a:latin typeface="Segoe UI"/>
                      </a:rPr>
                      <a:t>259 mil (+67%)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Hoy: 20 años, 75%</c:v>
                </c:pt>
                <c:pt idx="1">
                  <c:v>Propuesto: 30 años, 80%</c:v>
                </c:pt>
                <c:pt idx="2">
                  <c:v>Propuesto + independientes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154793.1357999695</c:v>
                </c:pt>
                <c:pt idx="1">
                  <c:v>200951.5324804735</c:v>
                </c:pt>
                <c:pt idx="2">
                  <c:v>258891.0476507487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1E0D9"/>
            </a:solidFill>
          </a:ln>
        </c:spPr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349502.91432851076"/>
          <c:min val="0.0"/>
        </c:scaling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52514E"/>
          </a:solidFill>
          <a:latin typeface="Segoe U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Caso de análisis con datos públicos para un banco ficticio que relanza su línea hipotecaria UVA.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 número que abre la conversación: la gran mayoría de los inquilinos no califica con las condiciones de hoy.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Hogar ilustrativo: pareja con hijos con el ingreso mediano de su grupo, buscando 60 m² en el GBA Oeste.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preguntas de negocio que ordenan todo el análisis.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Antes de analizar, las cifras oficiales del INDEC se reprodujeron exactamente desde los microdatos.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mayor caída está en la cuota; después pesan el anticipo y la falta de recibo de sueldo.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Cuota y anticipo dependen del mismo cociente precio/ingreso; el anticipo es el límite más exigente.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 lugar de fijar una regla de m², se muestra la elegibilidad para cada superficie.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Cada medida se prueba de a una frente al escenario 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grilla de plazo por % financiado muestra que 30 años con 80% es la mejor combinación con cuota hasta 25%.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Mirada descriptiva y neutral por tipo de hogar y trabajos; independientes en un módulo aparte.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 eso el producto mantiene el tope de cuota en 25%: con 30% al otorgar, en un episodio así la cuota llegaría cerca del 40%.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Recomiendo este producto porque suma hogares sin subir el tope de cuota, baja el efectivo inicial y protege frente al desacople.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Plan de acción con responsables e indicadores, y límites del estudio.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Participación del autor en cuatro puntos de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Links al dashboard, documentos y repositorio.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chart" Target="../charts/chart2.xml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A78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1">
                <a:solidFill>
                  <a:srgbClr val="2A78D6"/>
                </a:solidFill>
                <a:latin typeface="Segoe UI"/>
              </a:rPr>
              <a:t>CASO DE ANÁLISIS · BANCO [EMPRESA] (FICTICIO)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102412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4800" b="1">
                <a:solidFill>
                  <a:srgbClr val="0B0B0B"/>
                </a:solidFill>
                <a:latin typeface="Segoe UI"/>
              </a:rPr>
              <a:t>¿Quién puede pagar hoy un crédito hipotecario UVA?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94760"/>
            <a:ext cx="9601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900" b="0">
                <a:solidFill>
                  <a:srgbClr val="52514E"/>
                </a:solidFill>
                <a:latin typeface="Segoe UI"/>
              </a:rPr>
              <a:t>Hogares inquilinos de CABA, Partidos del GBA y Gran Córdoba: cuántos califican, qué los frena y qué producto amplía el mercado.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1">
                <a:solidFill>
                  <a:srgbClr val="0B0B0B"/>
                </a:solidFill>
                <a:latin typeface="Segoe UI"/>
              </a:rPr>
              <a:t>Santiago Trotta</a:t>
            </a:r>
            <a:r>
              <a:rPr sz="1300" b="0">
                <a:solidFill>
                  <a:srgbClr val="898781"/>
                </a:solidFill>
                <a:latin typeface="Segoe UI"/>
              </a:rPr>
              <a:t>   ·   Datos al 13-09-2026   ·   INDEC · BCRA · datos.gob.ar · Zonaprop Index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Fuente: INDEC (EPH 2T-2025 a 1T-2026), BCRA, Zonaprop Index; elaboración propia.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88720"/>
            <a:ext cx="59436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95000"/>
              </a:lnSpc>
            </a:pPr>
            <a:r>
              <a:rPr sz="7200" b="1">
                <a:solidFill>
                  <a:srgbClr val="2A78D6"/>
                </a:solidFill>
                <a:latin typeface="Segoe UI"/>
              </a:rPr>
              <a:t>1 de cada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97480"/>
            <a:ext cx="5486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05000"/>
              </a:lnSpc>
            </a:pPr>
            <a:r>
              <a:rPr sz="2600" b="0">
                <a:solidFill>
                  <a:srgbClr val="0B0B0B"/>
                </a:solidFill>
                <a:latin typeface="Segoe UI"/>
              </a:rPr>
              <a:t>hogares que alquilan podría tomar hoy un crédito hipotecario UVA.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06240"/>
            <a:ext cx="53035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600" b="0">
                <a:solidFill>
                  <a:srgbClr val="52514E"/>
                </a:solidFill>
                <a:latin typeface="Segoe UI"/>
              </a:rPr>
              <a:t>Son 155 mil de 1,2 millones de hogares inquilinos. El resto no llega a la cuota, al anticipo o no puede demostrar su ingreso.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188720"/>
            <a:ext cx="44805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50607" y="1371600"/>
            <a:ext cx="40782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b="1">
                <a:solidFill>
                  <a:srgbClr val="0B0B0B"/>
                </a:solidFill>
                <a:latin typeface="Segoe UI"/>
              </a:rPr>
              <a:t>1,2 millones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50607" y="1870363"/>
            <a:ext cx="4078224" cy="552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0">
                <a:solidFill>
                  <a:srgbClr val="52514E"/>
                </a:solidFill>
                <a:latin typeface="Segoe UI"/>
              </a:rPr>
              <a:t>hogares inquilinos en los 3 mercados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100" b="0">
                <a:solidFill>
                  <a:srgbClr val="898781"/>
                </a:solidFill>
                <a:latin typeface="Segoe UI"/>
              </a:rPr>
              <a:t>base de todos los porcentajes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949440" y="2788920"/>
            <a:ext cx="44805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50607" y="2971800"/>
            <a:ext cx="40782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b="1">
                <a:solidFill>
                  <a:srgbClr val="0B0B0B"/>
                </a:solidFill>
                <a:latin typeface="Segoe UI"/>
              </a:rPr>
              <a:t>22,1%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0607" y="3470563"/>
            <a:ext cx="4078224" cy="552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0">
                <a:solidFill>
                  <a:srgbClr val="52514E"/>
                </a:solidFill>
                <a:latin typeface="Segoe UI"/>
              </a:rPr>
              <a:t>puede pagar la cuota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100" b="0">
                <a:solidFill>
                  <a:srgbClr val="898781"/>
                </a:solidFill>
                <a:latin typeface="Segoe UI"/>
              </a:rPr>
              <a:t>cuota hasta 25% del ingreso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49440" y="4389120"/>
            <a:ext cx="448056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50607" y="4572000"/>
            <a:ext cx="40782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000" b="1">
                <a:solidFill>
                  <a:srgbClr val="0B0B0B"/>
                </a:solidFill>
                <a:latin typeface="Segoe UI"/>
              </a:rPr>
              <a:t>$ 2 billones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7" y="5070763"/>
            <a:ext cx="4078224" cy="5527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0">
                <a:solidFill>
                  <a:srgbClr val="52514E"/>
                </a:solidFill>
                <a:latin typeface="Segoe UI"/>
              </a:rPr>
              <a:t>de fondeo del programa oficial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100" b="0">
                <a:solidFill>
                  <a:srgbClr val="898781"/>
                </a:solidFill>
                <a:latin typeface="Segoe UI"/>
              </a:rPr>
              <a:t>alcanza para ~16 mil créditos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1">
                <a:solidFill>
                  <a:srgbClr val="2A78D6"/>
                </a:solidFill>
                <a:latin typeface="Segoe UI"/>
              </a:rPr>
              <a:t>UNA HISTORIA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800" b="1">
                <a:solidFill>
                  <a:srgbClr val="0B0B0B"/>
                </a:solidFill>
                <a:latin typeface="Segoe UI"/>
              </a:rPr>
              <a:t>Carla y Diego ganan lo típico y no llegan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Fuente: Hogar ilustrativo construido con medianas de la EPH y precios del Zonaprop Index (GBA Oeste).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 b="0">
                <a:solidFill>
                  <a:srgbClr val="52514E"/>
                </a:solidFill>
                <a:latin typeface="Segoe UI"/>
              </a:rPr>
              <a:t>Pareja con un hijo, alquilan en el oeste del conurbano y ganan $ 2,5 millones por mes entre los dos. Buscan un 3 ambientes de 60 m² que cuesta USD 90 mil.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51460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1">
                <a:solidFill>
                  <a:srgbClr val="0B0B0B"/>
                </a:solidFill>
                <a:latin typeface="Segoe UI"/>
              </a:rPr>
              <a:t>Hoy (20 años, 75%)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5468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5400" b="1">
                <a:solidFill>
                  <a:srgbClr val="E34948"/>
                </a:solidFill>
                <a:latin typeface="Segoe UI"/>
              </a:rPr>
              <a:t>33%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05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500" b="0">
                <a:solidFill>
                  <a:srgbClr val="0B0B0B"/>
                </a:solidFill>
                <a:latin typeface="Segoe UI"/>
              </a:rPr>
              <a:t>del ingreso se iría en la cuota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5488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00" b="0">
                <a:solidFill>
                  <a:srgbClr val="898781"/>
                </a:solidFill>
                <a:latin typeface="Segoe UI"/>
              </a:rPr>
              <a:t>Cuota $ 836 mil · efectivo $ 44,3 millones (7 años ahorrando el 20%)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79" y="251460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79" y="26974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1">
                <a:solidFill>
                  <a:srgbClr val="0B0B0B"/>
                </a:solidFill>
                <a:latin typeface="Segoe UI"/>
              </a:rPr>
              <a:t>Con 30 años y 80%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79" y="315468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5400" b="1">
                <a:solidFill>
                  <a:srgbClr val="E34948"/>
                </a:solidFill>
                <a:latin typeface="Segoe UI"/>
              </a:rPr>
              <a:t>31%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41605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500" b="0">
                <a:solidFill>
                  <a:srgbClr val="0B0B0B"/>
                </a:solidFill>
                <a:latin typeface="Segoe UI"/>
              </a:rPr>
              <a:t>del ingreso: todavía no alcanza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79" y="475488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00" b="0">
                <a:solidFill>
                  <a:srgbClr val="898781"/>
                </a:solidFill>
                <a:latin typeface="Segoe UI"/>
              </a:rPr>
              <a:t>Cuota $ 774 mil · efectivo $ 37,4 millones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2514600"/>
            <a:ext cx="3520440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75319" y="269748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1">
                <a:solidFill>
                  <a:srgbClr val="0B0B0B"/>
                </a:solidFill>
                <a:latin typeface="Segoe UI"/>
              </a:rPr>
              <a:t>Y una vivienda 20% más barata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75319" y="3154680"/>
            <a:ext cx="31089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5400" b="1">
                <a:solidFill>
                  <a:srgbClr val="2A78D6"/>
                </a:solidFill>
                <a:latin typeface="Segoe UI"/>
              </a:rPr>
              <a:t>24%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4160520"/>
            <a:ext cx="3108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500" b="0">
                <a:solidFill>
                  <a:srgbClr val="0B0B0B"/>
                </a:solidFill>
                <a:latin typeface="Segoe UI"/>
              </a:rPr>
              <a:t>del ingreso: califican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4754880"/>
            <a:ext cx="31089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00" b="0">
                <a:solidFill>
                  <a:srgbClr val="898781"/>
                </a:solidFill>
                <a:latin typeface="Segoe UI"/>
              </a:rPr>
              <a:t>Efectivo equivalente a 12 meses de ingreso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1">
                <a:solidFill>
                  <a:srgbClr val="2A78D6"/>
                </a:solidFill>
                <a:latin typeface="Segoe UI"/>
              </a:rPr>
              <a:t>LA PREGUNTA DEL BANCO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800" b="1">
                <a:solidFill>
                  <a:srgbClr val="0B0B0B"/>
                </a:solidFill>
                <a:latin typeface="Segoe UI"/>
              </a:rPr>
              <a:t>Hay fondeo barato y 120 días para colocarlo: ¿a quién y con qué producto?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Fuente: Referencias de supuestos: condiciones publicadas del programa de fondeo y de Banco Nación (detalle en la documentación del repositorio).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828800"/>
            <a:ext cx="731520" cy="731520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38528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2A78D6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1938528"/>
            <a:ext cx="5852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 b="0">
                <a:solidFill>
                  <a:srgbClr val="0B0B0B"/>
                </a:solidFill>
                <a:latin typeface="Segoe UI"/>
              </a:rPr>
              <a:t>¿Cuántos hogares inquilinos podrían pagar hoy un crédito UVA y dónde están?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80360"/>
            <a:ext cx="731520" cy="731520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990088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2A78D6"/>
                </a:solidFill>
                <a:latin typeface="Segoe U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990088"/>
            <a:ext cx="5852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 b="0">
                <a:solidFill>
                  <a:srgbClr val="0B0B0B"/>
                </a:solidFill>
                <a:latin typeface="Segoe UI"/>
              </a:rPr>
              <a:t>¿Qué los frena: la cuota, el anticipo, la formalidad o la edad?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31920"/>
            <a:ext cx="731520" cy="731520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4041648"/>
            <a:ext cx="7315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2600" b="1">
                <a:solidFill>
                  <a:srgbClr val="2A78D6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041648"/>
            <a:ext cx="5852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 b="0">
                <a:solidFill>
                  <a:srgbClr val="0B0B0B"/>
                </a:solidFill>
                <a:latin typeface="Segoe UI"/>
              </a:rPr>
              <a:t>¿Qué producto y qué política de riesgo amplían el mercado sin aumentar la mora esperada?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1828800"/>
            <a:ext cx="3931920" cy="2834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09560" y="2011680"/>
            <a:ext cx="356616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0000"/>
              </a:lnSpc>
            </a:pPr>
            <a:r>
              <a:rPr sz="1400" b="1">
                <a:solidFill>
                  <a:srgbClr val="0B0B0B"/>
                </a:solidFill>
                <a:latin typeface="Segoe UI"/>
              </a:rPr>
              <a:t>Escenario base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UVA + 7,5% · 20 años · 75% financiado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Cuota hasta 25% del ingreso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Anticipo + gastos hasta 12 ingresos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Recibo de sueldo (jefe/a o cónyuge)</a:t>
            </a:r>
          </a:p>
          <a:p>
            <a:pPr>
              <a:lnSpc>
                <a:spcPct val="130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Edad al terminar hasta 85 años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66360"/>
            <a:ext cx="10972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>
                <a:solidFill>
                  <a:srgbClr val="898781"/>
                </a:solidFill>
                <a:latin typeface="Segoe UI"/>
              </a:rPr>
              <a:t>Alcance: CABA, Partidos del GBA (abierto en corredores Norte, Oeste y Sur) y Gran Córdoba.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1">
                <a:solidFill>
                  <a:srgbClr val="2A78D6"/>
                </a:solidFill>
                <a:latin typeface="Segoe UI"/>
              </a:rPr>
              <a:t>LOS DATOS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800" b="1">
                <a:solidFill>
                  <a:srgbClr val="0B0B0B"/>
                </a:solidFill>
                <a:latin typeface="Segoe UI"/>
              </a:rPr>
              <a:t>Datos públicos, limpiados con reglas escritas y validados contra cifras oficiales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Fuente: INDEC (EPH, Censo 2022), BCRA (API de Estadísticas), datos.gob.ar (salarios, SIPA, dólar BNA), GCBA, Zonaprop Index.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1">
                <a:solidFill>
                  <a:srgbClr val="0B0B0B"/>
                </a:solidFill>
                <a:latin typeface="Segoe UI"/>
              </a:rPr>
              <a:t>EPH · INDEC</a:t>
            </a:r>
            <a:r>
              <a:rPr sz="1400" b="0">
                <a:solidFill>
                  <a:srgbClr val="52514E"/>
                </a:solidFill>
                <a:latin typeface="Segoe UI"/>
              </a:rPr>
              <a:t>  ·  ingresos, tenencia, trabajo y aportes de los hogares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87168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1">
                <a:solidFill>
                  <a:srgbClr val="0B0B0B"/>
                </a:solidFill>
                <a:latin typeface="Segoe UI"/>
              </a:rPr>
              <a:t>Censo 2022 · INDEC</a:t>
            </a:r>
            <a:r>
              <a:rPr sz="1400" b="0">
                <a:solidFill>
                  <a:srgbClr val="52514E"/>
                </a:solidFill>
                <a:latin typeface="Segoe UI"/>
              </a:rPr>
              <a:t>  ·  validación del universo y peso de cada partido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45536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1">
                <a:solidFill>
                  <a:srgbClr val="0B0B0B"/>
                </a:solidFill>
                <a:latin typeface="Segoe UI"/>
              </a:rPr>
              <a:t>BCRA</a:t>
            </a:r>
            <a:r>
              <a:rPr sz="1400" b="0">
                <a:solidFill>
                  <a:srgbClr val="52514E"/>
                </a:solidFill>
                <a:latin typeface="Segoe UI"/>
              </a:rPr>
              <a:t>  ·  UVA, tasas, stock y destino del crédito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03904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1">
                <a:solidFill>
                  <a:srgbClr val="0B0B0B"/>
                </a:solidFill>
                <a:latin typeface="Segoe UI"/>
              </a:rPr>
              <a:t>datos.gob.ar</a:t>
            </a:r>
            <a:r>
              <a:rPr sz="1400" b="0">
                <a:solidFill>
                  <a:srgbClr val="52514E"/>
                </a:solidFill>
                <a:latin typeface="Segoe UI"/>
              </a:rPr>
              <a:t>  ·  índice de salarios, SIPA, dólar Banco Nación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62272"/>
            <a:ext cx="5852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1">
                <a:solidFill>
                  <a:srgbClr val="0B0B0B"/>
                </a:solidFill>
                <a:latin typeface="Segoe UI"/>
              </a:rPr>
              <a:t>Zonaprop Index</a:t>
            </a:r>
            <a:r>
              <a:rPr sz="1400" b="0">
                <a:solidFill>
                  <a:srgbClr val="52514E"/>
                </a:solidFill>
                <a:latin typeface="Segoe UI"/>
              </a:rPr>
              <a:t>  ·  precio del m² en CABA, 31 partidos y Córdoba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0" y="1691640"/>
            <a:ext cx="502920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84848" y="1874520"/>
            <a:ext cx="462686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0B0B0B"/>
                </a:solidFill>
                <a:latin typeface="Segoe UI"/>
              </a:rPr>
              <a:t>4 de 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84848" y="2306781"/>
            <a:ext cx="4626864" cy="3906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0">
                <a:solidFill>
                  <a:srgbClr val="52514E"/>
                </a:solidFill>
                <a:latin typeface="Segoe UI"/>
              </a:rPr>
              <a:t>cifras oficiales del INDEC reproducidas exactamente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3063240"/>
            <a:ext cx="502920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3246120"/>
            <a:ext cx="462686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0B0B0B"/>
                </a:solidFill>
                <a:latin typeface="Segoe UI"/>
              </a:rPr>
              <a:t>2 a 4 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3678381"/>
            <a:ext cx="4626864" cy="3906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0">
                <a:solidFill>
                  <a:srgbClr val="52514E"/>
                </a:solidFill>
                <a:latin typeface="Segoe UI"/>
              </a:rPr>
              <a:t>menos inquilinos que el Censo: cantidades conservadoras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0" y="4434840"/>
            <a:ext cx="5029200" cy="1188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84848" y="4617720"/>
            <a:ext cx="462686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600" b="1">
                <a:solidFill>
                  <a:srgbClr val="0B0B0B"/>
                </a:solidFill>
                <a:latin typeface="Segoe UI"/>
              </a:rPr>
              <a:t>2.028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4848" y="5049981"/>
            <a:ext cx="4626864" cy="39069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0">
                <a:solidFill>
                  <a:srgbClr val="52514E"/>
                </a:solidFill>
                <a:latin typeface="Segoe UI"/>
              </a:rPr>
              <a:t>observaciones de hogares inquilinos con ingreso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1">
                <a:solidFill>
                  <a:srgbClr val="2A78D6"/>
                </a:solidFill>
                <a:latin typeface="Segoe UI"/>
              </a:rPr>
              <a:t>LA RESPUESTA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800" b="1">
                <a:solidFill>
                  <a:srgbClr val="0B0B0B"/>
                </a:solidFill>
                <a:latin typeface="Segoe UI"/>
              </a:rPr>
              <a:t>Solo 155 mil hogares pasan los cuatro filtros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Fuente: INDEC (EPH), BCRA, Zonaprop Index; elaboración propia. Escenario base.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645920"/>
          <a:ext cx="7498079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412480" y="1828800"/>
            <a:ext cx="3200400" cy="3840480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41080" y="2057400"/>
            <a:ext cx="278892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400" b="1">
                <a:solidFill>
                  <a:srgbClr val="184F95"/>
                </a:solidFill>
                <a:latin typeface="Segoe UI"/>
              </a:rPr>
              <a:t>8 de cada 10</a:t>
            </a:r>
          </a:p>
          <a:p>
            <a:pPr>
              <a:lnSpc>
                <a:spcPct val="110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no llegan a la cuota.</a:t>
            </a:r>
          </a:p>
          <a:p>
            <a:pPr>
              <a:lnSpc>
                <a:spcPct val="110000"/>
              </a:lnSpc>
              <a:spcBef>
                <a:spcPts val="1400"/>
              </a:spcBef>
            </a:pPr>
            <a:r>
              <a:rPr sz="2400" b="1">
                <a:solidFill>
                  <a:srgbClr val="184F95"/>
                </a:solidFill>
                <a:latin typeface="Segoe UI"/>
              </a:rPr>
              <a:t>29%</a:t>
            </a:r>
          </a:p>
          <a:p>
            <a:pPr>
              <a:lnSpc>
                <a:spcPct val="110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de los que pagan y juntan el anticipo no tiene recibo de sueldo.</a:t>
            </a:r>
          </a:p>
          <a:p>
            <a:pPr>
              <a:lnSpc>
                <a:spcPct val="110000"/>
              </a:lnSpc>
              <a:spcBef>
                <a:spcPts val="1400"/>
              </a:spcBef>
            </a:pPr>
            <a:r>
              <a:rPr sz="1800" b="1">
                <a:solidFill>
                  <a:srgbClr val="184F95"/>
                </a:solidFill>
                <a:latin typeface="Segoe UI"/>
              </a:rPr>
              <a:t>IC 10,4%–14,3%</a:t>
            </a:r>
          </a:p>
          <a:p>
            <a:pPr>
              <a:lnSpc>
                <a:spcPct val="110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margen de error del resultado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1">
                <a:solidFill>
                  <a:srgbClr val="2A78D6"/>
                </a:solidFill>
                <a:latin typeface="Segoe UI"/>
              </a:rPr>
              <a:t>POR QUÉ TAN POCOS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800" b="1">
                <a:solidFill>
                  <a:srgbClr val="0B0B0B"/>
                </a:solidFill>
                <a:latin typeface="Segoe UI"/>
              </a:rPr>
              <a:t>Lo que frena es juntar el efectivo inicial frente al precio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Fuente: INDEC (EPH), BCRA, Zonaprop Index; elaboración propia.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9164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874520"/>
            <a:ext cx="31638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4800" b="1">
                <a:solidFill>
                  <a:srgbClr val="0B0B0B"/>
                </a:solidFill>
                <a:latin typeface="Segoe UI"/>
              </a:rPr>
              <a:t>72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672541"/>
            <a:ext cx="3163824" cy="5735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0">
                <a:solidFill>
                  <a:srgbClr val="52514E"/>
                </a:solidFill>
                <a:latin typeface="Segoe UI"/>
              </a:rPr>
              <a:t>ingresos mensuales cuesta la vivienda del hogar típico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611880"/>
            <a:ext cx="3566160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3794760"/>
            <a:ext cx="316382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4800" b="1">
                <a:solidFill>
                  <a:srgbClr val="2A78D6"/>
                </a:solidFill>
                <a:latin typeface="Segoe UI"/>
              </a:rPr>
              <a:t>37,5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4592781"/>
            <a:ext cx="3163824" cy="5735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0">
                <a:solidFill>
                  <a:srgbClr val="52514E"/>
                </a:solidFill>
                <a:latin typeface="Segoe UI"/>
              </a:rPr>
              <a:t>ingresos es lo máximo que permite el anticipo (y 41,4 la cuota)</a:t>
            </a:r>
          </a:p>
        </p:txBody>
      </p:sp>
      <p:pic>
        <p:nvPicPr>
          <p:cNvPr id="12" name="Picture 11" descr="03_precio_en_ingres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645920"/>
            <a:ext cx="7223760" cy="33657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1">
                <a:solidFill>
                  <a:srgbClr val="2A78D6"/>
                </a:solidFill>
                <a:latin typeface="Segoe UI"/>
              </a:rPr>
              <a:t>LA VIVIENDA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800" b="1">
                <a:solidFill>
                  <a:srgbClr val="0B0B0B"/>
                </a:solidFill>
                <a:latin typeface="Segoe UI"/>
              </a:rPr>
              <a:t>Con 45 m² calificaría el 18,1%; con 75 m², el 5,0%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Fuente: INDEC (EPH), Zonaprop Index, BCRA; elaboración propia.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8</a:t>
            </a:r>
          </a:p>
        </p:txBody>
      </p:sp>
      <p:pic>
        <p:nvPicPr>
          <p:cNvPr id="6" name="Picture 5" descr="03_calor_m2_zo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554480"/>
            <a:ext cx="9056482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1">
                <a:solidFill>
                  <a:srgbClr val="2A78D6"/>
                </a:solidFill>
                <a:latin typeface="Segoe UI"/>
              </a:rPr>
              <a:t>QUÉ DESTRABA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800" b="1">
                <a:solidFill>
                  <a:srgbClr val="0B0B0B"/>
                </a:solidFill>
                <a:latin typeface="Segoe UI"/>
              </a:rPr>
              <a:t>Lo que suma hogares actúa sobre el anticipo o el precio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Fuente: INDEC (EPH), BCRA, Zonaprop Index; elaboración propia.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9</a:t>
            </a:r>
          </a:p>
        </p:txBody>
      </p:sp>
      <p:pic>
        <p:nvPicPr>
          <p:cNvPr id="6" name="Picture 5" descr="04_que_pasa_s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554480"/>
            <a:ext cx="771119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1">
                <a:solidFill>
                  <a:srgbClr val="2A78D6"/>
                </a:solidFill>
                <a:latin typeface="Segoe UI"/>
              </a:rPr>
              <a:t>EL PRODUCTO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800" b="1">
                <a:solidFill>
                  <a:srgbClr val="0B0B0B"/>
                </a:solidFill>
                <a:latin typeface="Segoe UI"/>
              </a:rPr>
              <a:t>30 años y 80% financiado: de 155 mil a 201 mil hogares sin subir el tope de cuota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Fuente: INDEC (EPH), BCRA, Zonaprop Index; elaboración propia. Tope de cuota 25% en los tres escenarios.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10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1737360"/>
          <a:ext cx="6766560" cy="32918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pic>
        <p:nvPicPr>
          <p:cNvPr id="7" name="Picture 6" descr="04_grilla_plazo_ltv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1783080"/>
            <a:ext cx="4023360" cy="290267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1">
                <a:solidFill>
                  <a:srgbClr val="2A78D6"/>
                </a:solidFill>
                <a:latin typeface="Segoe UI"/>
              </a:rPr>
              <a:t>A QUIÉN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800" b="1">
                <a:solidFill>
                  <a:srgbClr val="0B0B0B"/>
                </a:solidFill>
                <a:latin typeface="Segoe UI"/>
              </a:rPr>
              <a:t>Dos ingresos hacen la diferencia; la zona pesa menos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Fuente: INDEC (EPH); elaboración propia. Asociaciones descriptivas, no causas.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3736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920240"/>
            <a:ext cx="50383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4000" b="1">
                <a:solidFill>
                  <a:srgbClr val="2A78D6"/>
                </a:solidFill>
                <a:latin typeface="Segoe UI"/>
              </a:rPr>
              <a:t>21,0%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2585258"/>
            <a:ext cx="5038344" cy="8437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0">
                <a:solidFill>
                  <a:srgbClr val="52514E"/>
                </a:solidFill>
                <a:latin typeface="Segoe UI"/>
              </a:rPr>
              <a:t>elegible donde trabajan dos personas o más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100" b="0">
                <a:solidFill>
                  <a:srgbClr val="898781"/>
                </a:solidFill>
                <a:latin typeface="Segoe UI"/>
              </a:rPr>
              <a:t>frente a 5,3% con una persona y un trabajo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737360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73368" y="1920240"/>
            <a:ext cx="50383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4000" b="1">
                <a:solidFill>
                  <a:srgbClr val="2A78D6"/>
                </a:solidFill>
                <a:latin typeface="Segoe UI"/>
              </a:rPr>
              <a:t>32,9%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3368" y="2585258"/>
            <a:ext cx="5038344" cy="8437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0">
                <a:solidFill>
                  <a:srgbClr val="52514E"/>
                </a:solidFill>
                <a:latin typeface="Segoe UI"/>
              </a:rPr>
              <a:t>elegible en parejas sin hijos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100" b="0">
                <a:solidFill>
                  <a:srgbClr val="898781"/>
                </a:solidFill>
                <a:latin typeface="Segoe UI"/>
              </a:rPr>
              <a:t>hogares de un solo adulto: 5,8% y 4,6%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840479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4023359"/>
            <a:ext cx="50383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4000" b="1">
                <a:solidFill>
                  <a:srgbClr val="2A78D6"/>
                </a:solidFill>
                <a:latin typeface="Segoe UI"/>
              </a:rPr>
              <a:t>47 mil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688378"/>
            <a:ext cx="5038344" cy="8437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0">
                <a:solidFill>
                  <a:srgbClr val="52514E"/>
                </a:solidFill>
                <a:latin typeface="Segoe UI"/>
              </a:rPr>
              <a:t>hogares de independientes pagarían cuota y anticipo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100" b="0">
                <a:solidFill>
                  <a:srgbClr val="898781"/>
                </a:solidFill>
                <a:latin typeface="Segoe UI"/>
              </a:rPr>
              <a:t>pero no tienen recibo de sueldo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840479"/>
            <a:ext cx="544068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4023359"/>
            <a:ext cx="5038344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4000" b="1">
                <a:solidFill>
                  <a:srgbClr val="0B0B0B"/>
                </a:solidFill>
                <a:latin typeface="Segoe UI"/>
              </a:rPr>
              <a:t>16,4%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3368" y="4688378"/>
            <a:ext cx="5038344" cy="84374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300" b="0">
                <a:solidFill>
                  <a:srgbClr val="52514E"/>
                </a:solidFill>
                <a:latin typeface="Segoe UI"/>
              </a:rPr>
              <a:t>elegible en GBA Oeste, la zona más alta</a:t>
            </a:r>
          </a:p>
          <a:p>
            <a:pPr>
              <a:lnSpc>
                <a:spcPct val="110000"/>
              </a:lnSpc>
              <a:spcBef>
                <a:spcPts val="400"/>
              </a:spcBef>
            </a:pPr>
            <a:r>
              <a:rPr sz="1100" b="0">
                <a:solidFill>
                  <a:srgbClr val="898781"/>
                </a:solidFill>
                <a:latin typeface="Segoe UI"/>
              </a:rPr>
              <a:t>GBA Norte 9,4%; diferencia no concluyente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1">
                <a:solidFill>
                  <a:srgbClr val="2A78D6"/>
                </a:solidFill>
                <a:latin typeface="Segoe UI"/>
              </a:rPr>
              <a:t>EL RIESGO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800" b="1">
                <a:solidFill>
                  <a:srgbClr val="0B0B0B"/>
                </a:solidFill>
                <a:latin typeface="Segoe UI"/>
              </a:rPr>
              <a:t>Si la UVA le gana al sueldo, la cuota pesa más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Fuente: BCRA (UVA), INDEC (índice de salarios registrados); elaboración propia.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12</a:t>
            </a:r>
          </a:p>
        </p:txBody>
      </p:sp>
      <p:pic>
        <p:nvPicPr>
          <p:cNvPr id="6" name="Picture 5" descr="03_stress_uva_salar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45920"/>
            <a:ext cx="7315200" cy="349682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183879" y="1828800"/>
            <a:ext cx="3429000" cy="3657600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0" y="2057400"/>
            <a:ext cx="30175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3400" b="1">
                <a:solidFill>
                  <a:srgbClr val="184F95"/>
                </a:solidFill>
                <a:latin typeface="Segoe UI"/>
              </a:rPr>
              <a:t>32,9%</a:t>
            </a:r>
          </a:p>
          <a:p>
            <a:pPr>
              <a:lnSpc>
                <a:spcPct val="110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del ingreso a los 24 meses para un crédito de sep-2023 que empezó en 25%.</a:t>
            </a:r>
          </a:p>
          <a:p>
            <a:pPr>
              <a:lnSpc>
                <a:spcPct val="110000"/>
              </a:lnSpc>
              <a:spcBef>
                <a:spcPts val="1600"/>
              </a:spcBef>
            </a:pPr>
            <a:r>
              <a:rPr sz="3400" b="1">
                <a:solidFill>
                  <a:srgbClr val="184F95"/>
                </a:solidFill>
                <a:latin typeface="Segoe UI"/>
              </a:rPr>
              <a:t>11%</a:t>
            </a:r>
          </a:p>
          <a:p>
            <a:pPr>
              <a:lnSpc>
                <a:spcPct val="110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de los períodos de 24 meses desde 2016 terminó por encima del 30%.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1">
                <a:solidFill>
                  <a:srgbClr val="2A78D6"/>
                </a:solidFill>
                <a:latin typeface="Segoe UI"/>
              </a:rPr>
              <a:t>RECOMENDACIÓN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800" b="1">
                <a:solidFill>
                  <a:srgbClr val="0B0B0B"/>
                </a:solidFill>
                <a:latin typeface="Segoe UI"/>
              </a:rPr>
              <a:t>Recomiendo 30 años, 80% financiado y cuota hasta 25%, con foco en dos ingresos y una línea para independientes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Fuente: Cifras: kpis.json del proyecto; elaboración propia.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13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544068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286000"/>
            <a:ext cx="4983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 b="1">
                <a:solidFill>
                  <a:srgbClr val="2A78D6"/>
                </a:solidFill>
                <a:latin typeface="Segoe UI"/>
              </a:rPr>
              <a:t>Suma más hogares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De 155 mil a 201 mil, y a 259 mil con independientes, sin subir el tope de cuota.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103120"/>
            <a:ext cx="544068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983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 b="1">
                <a:solidFill>
                  <a:srgbClr val="2A78D6"/>
                </a:solidFill>
                <a:latin typeface="Segoe UI"/>
              </a:rPr>
              <a:t>Baja el efectivo inicial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743200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Financiar el 80% a 30 años reduce el anticipo y mantiene la cuota dentro del tope.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77639"/>
            <a:ext cx="544068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60520"/>
            <a:ext cx="4983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 b="1">
                <a:solidFill>
                  <a:srgbClr val="2A78D6"/>
                </a:solidFill>
                <a:latin typeface="Segoe UI"/>
              </a:rPr>
              <a:t>Cuida el riesgo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17720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Tope de 25% y opción de extender el plazo si la cuota supera el 30% del sueldo.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977639"/>
            <a:ext cx="5440680" cy="1645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160520"/>
            <a:ext cx="49834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800" b="1">
                <a:solidFill>
                  <a:srgbClr val="2A78D6"/>
                </a:solidFill>
                <a:latin typeface="Segoe UI"/>
              </a:rPr>
              <a:t>Permite seleccionar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617720"/>
            <a:ext cx="49834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El fondeo alcanza para ~16 mil créditos frente a 201 mil hogares elegibles.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1">
                <a:solidFill>
                  <a:srgbClr val="2A78D6"/>
                </a:solidFill>
                <a:latin typeface="Segoe UI"/>
              </a:rPr>
              <a:t>PRÓXIMOS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800" b="1">
                <a:solidFill>
                  <a:srgbClr val="0B0B0B"/>
                </a:solidFill>
                <a:latin typeface="Segoe UI"/>
              </a:rPr>
              <a:t>Qué haría en los 120 días del programa y qué no dice este análisis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Fuente: Límites detallados en la documentación del repositorio.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60350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700" b="1">
                <a:solidFill>
                  <a:srgbClr val="0B0B0B"/>
                </a:solidFill>
                <a:latin typeface="Segoe UI"/>
              </a:rPr>
              <a:t>Plan de acción</a:t>
            </a:r>
          </a:p>
          <a:p>
            <a:pPr>
              <a:lnSpc>
                <a:spcPct val="13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•  Semanas 1-2 · aprobar producto y regla de sumar ingresos de la pareja</a:t>
            </a:r>
          </a:p>
          <a:p>
            <a:pPr>
              <a:lnSpc>
                <a:spcPct val="13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•  Semanas 1-4 · precalificación digital con el simulador</a:t>
            </a:r>
          </a:p>
          <a:p>
            <a:pPr>
              <a:lnSpc>
                <a:spcPct val="13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•  Semanas 3-6 · línea de independientes con 12-24 meses de facturación o aportes</a:t>
            </a:r>
          </a:p>
          <a:p>
            <a:pPr>
              <a:lnSpc>
                <a:spcPct val="13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•  Semanas 3-8 · campañas: dos ingresos; GBA Oeste y Córdoba por proporción, CABA por volumen</a:t>
            </a:r>
          </a:p>
          <a:p>
            <a:pPr>
              <a:lnSpc>
                <a:spcPct val="13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•  Semanas 6-12 · ahorro programado en UVA para casi elegibles</a:t>
            </a:r>
          </a:p>
          <a:p>
            <a:pPr>
              <a:lnSpc>
                <a:spcPct val="13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•  Todo el período · tablero de colocación y mora temprana por línea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737360"/>
            <a:ext cx="4663440" cy="4023360"/>
          </a:xfrm>
          <a:prstGeom prst="roundRect">
            <a:avLst>
              <a:gd name="adj" fmla="val 6000"/>
            </a:avLst>
          </a:prstGeom>
          <a:solidFill>
            <a:srgbClr val="F0E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78040" y="1920240"/>
            <a:ext cx="4206240" cy="37490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</a:pPr>
            <a:r>
              <a:rPr sz="1700" b="1">
                <a:solidFill>
                  <a:srgbClr val="0B0B0B"/>
                </a:solidFill>
                <a:latin typeface="Segoe UI"/>
              </a:rPr>
              <a:t>Límites</a:t>
            </a:r>
          </a:p>
          <a:p>
            <a:pPr>
              <a:lnSpc>
                <a:spcPct val="135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•  La encuesta no mide ahorros, deudas ni historial crediticio</a:t>
            </a:r>
          </a:p>
          <a:p>
            <a:pPr>
              <a:lnSpc>
                <a:spcPct val="135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•  Precios de publicación, no de escritura</a:t>
            </a:r>
          </a:p>
          <a:p>
            <a:pPr>
              <a:lnSpc>
                <a:spcPct val="135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•  Cantidades conservadoras: entre 169 mil y 176 mil ajustado al Censo</a:t>
            </a:r>
          </a:p>
          <a:p>
            <a:pPr>
              <a:lnSpc>
                <a:spcPct val="135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•  En el GBA se asume igual distribución de ingresos por partido</a:t>
            </a:r>
          </a:p>
          <a:p>
            <a:pPr>
              <a:lnSpc>
                <a:spcPct val="135000"/>
              </a:lnSpc>
            </a:pPr>
            <a:r>
              <a:rPr sz="1350" b="0">
                <a:solidFill>
                  <a:srgbClr val="52514E"/>
                </a:solidFill>
                <a:latin typeface="Segoe UI"/>
              </a:rPr>
              <a:t>•  Válido a la fecha de corte; tasas y precios cambian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1">
                <a:solidFill>
                  <a:srgbClr val="2A78D6"/>
                </a:solidFill>
                <a:latin typeface="Segoe UI"/>
              </a:rPr>
              <a:t>CÓMO SE HIZO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800" b="1">
                <a:solidFill>
                  <a:srgbClr val="0B0B0B"/>
                </a:solidFill>
                <a:latin typeface="Segoe UI"/>
              </a:rPr>
              <a:t>Decisiones humanas en cada etapa, cálculos automatizados y controles verificables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036289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Fuente: Proceso completo documentado en el repositorio público del caso.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15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965960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700" b="1">
                <a:solidFill>
                  <a:srgbClr val="0B0B0B"/>
                </a:solidFill>
                <a:latin typeface="Segoe UI"/>
              </a:rPr>
              <a:t>Qué decidió el autor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68880"/>
            <a:ext cx="30632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Tema, cliente y preguntas. Alcance: sacar Gran Rosario y abrir el GBA por corredor. Escenario base. Qué hipótesis mantener, reformular o pasar a contexto. Qué controles sumar.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79" y="178308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79" y="1965960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700" b="1">
                <a:solidFill>
                  <a:srgbClr val="0B0B0B"/>
                </a:solidFill>
                <a:latin typeface="Segoe UI"/>
              </a:rPr>
              <a:t>Qué se automatizó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79" y="2468880"/>
            <a:ext cx="30632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Descarga de fuentes públicas con huella digital, limpieza en SQL, motor de elegibilidad único, gráficos, documentos y dashboard.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19" y="1783080"/>
            <a:ext cx="3520440" cy="3931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1E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19" y="1965960"/>
            <a:ext cx="3063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700" b="1">
                <a:solidFill>
                  <a:srgbClr val="0B0B0B"/>
                </a:solidFill>
                <a:latin typeface="Segoe UI"/>
              </a:rPr>
              <a:t>Cómo se verificó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19" y="2468880"/>
            <a:ext cx="306324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Cifras del INDEC reproducidas exactamente, comparación con el Censo 2022, imputación de ingresos no declarados (11,1%), corrección por subdeclaración (14,6%–16,8%) y test de paridad del simulador.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CFC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110944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100" b="1">
                <a:solidFill>
                  <a:srgbClr val="2A78D6"/>
                </a:solidFill>
                <a:latin typeface="Segoe UI"/>
              </a:rPr>
              <a:t>FUENTES DE DATOS Y MATERIAL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2800" b="1">
                <a:solidFill>
                  <a:srgbClr val="0B0B0B"/>
                </a:solidFill>
                <a:latin typeface="Segoe UI"/>
              </a:rPr>
              <a:t>Todo el caso se puede recorrer y repetir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640080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0000"/>
              </a:lnSpc>
            </a:pPr>
            <a:r>
              <a:rPr sz="900" b="0">
                <a:solidFill>
                  <a:srgbClr val="898781"/>
                </a:solidFill>
                <a:latin typeface="Segoe U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658368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</a:pPr>
            <a:r>
              <a:rPr sz="1450" b="0">
                <a:solidFill>
                  <a:srgbClr val="52514E"/>
                </a:solidFill>
                <a:latin typeface="Segoe UI"/>
              </a:rPr>
              <a:t>•  INDEC · Encuesta Permanente de Hogares (2T-2025 a 1T-2026) y Censo 2022</a:t>
            </a:r>
          </a:p>
          <a:p>
            <a:pPr>
              <a:lnSpc>
                <a:spcPct val="140000"/>
              </a:lnSpc>
            </a:pPr>
            <a:r>
              <a:rPr sz="1450" b="0">
                <a:solidFill>
                  <a:srgbClr val="52514E"/>
                </a:solidFill>
                <a:latin typeface="Segoe UI"/>
              </a:rPr>
              <a:t>•  BCRA · API de Estadísticas v4.0 (UVA, tasas, stock y destino del crédito, inflación, dólar)</a:t>
            </a:r>
          </a:p>
          <a:p>
            <a:pPr>
              <a:lnSpc>
                <a:spcPct val="140000"/>
              </a:lnSpc>
            </a:pPr>
            <a:r>
              <a:rPr sz="1450" b="0">
                <a:solidFill>
                  <a:srgbClr val="52514E"/>
                </a:solidFill>
                <a:latin typeface="Segoe UI"/>
              </a:rPr>
              <a:t>•  datos.gob.ar · Índice de Salarios, RIPTE, remuneraciones del SIPA y dólar Banco Nación</a:t>
            </a:r>
          </a:p>
          <a:p>
            <a:pPr>
              <a:lnSpc>
                <a:spcPct val="140000"/>
              </a:lnSpc>
            </a:pPr>
            <a:r>
              <a:rPr sz="1450" b="0">
                <a:solidFill>
                  <a:srgbClr val="52514E"/>
                </a:solidFill>
                <a:latin typeface="Segoe UI"/>
              </a:rPr>
              <a:t>•  GCBA · Departamentos en venta 2001-2020</a:t>
            </a:r>
          </a:p>
          <a:p>
            <a:pPr>
              <a:lnSpc>
                <a:spcPct val="140000"/>
              </a:lnSpc>
            </a:pPr>
            <a:r>
              <a:rPr sz="1450" b="0">
                <a:solidFill>
                  <a:srgbClr val="52514E"/>
                </a:solidFill>
                <a:latin typeface="Segoe UI"/>
              </a:rPr>
              <a:t>•  Zonaprop Index · reportes CABA, GBA y Córdoba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98079" y="1737360"/>
            <a:ext cx="4114800" cy="3017520"/>
          </a:xfrm>
          <a:prstGeom prst="roundRect">
            <a:avLst>
              <a:gd name="adj" fmla="val 6000"/>
            </a:avLst>
          </a:prstGeom>
          <a:solidFill>
            <a:srgbClr val="EAF2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1920240"/>
            <a:ext cx="36576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5000"/>
              </a:lnSpc>
            </a:pPr>
            <a:r>
              <a:rPr sz="1600" b="1">
                <a:solidFill>
                  <a:srgbClr val="0B0B0B"/>
                </a:solidFill>
                <a:latin typeface="Segoe UI"/>
              </a:rPr>
              <a:t>Material del caso</a:t>
            </a:r>
          </a:p>
          <a:p>
            <a:pPr>
              <a:lnSpc>
                <a:spcPct val="14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Dashboard interactivo con simulador</a:t>
            </a:r>
          </a:p>
          <a:p>
            <a:pPr>
              <a:lnSpc>
                <a:spcPct val="14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Resumen en simple</a:t>
            </a:r>
          </a:p>
          <a:p>
            <a:pPr>
              <a:lnSpc>
                <a:spcPct val="145000"/>
              </a:lnSpc>
            </a:pPr>
            <a:r>
              <a:rPr sz="1400" b="0">
                <a:solidFill>
                  <a:srgbClr val="52514E"/>
                </a:solidFill>
                <a:latin typeface="Segoe UI"/>
              </a:rPr>
              <a:t>Código, documentación y fuentes en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12080"/>
            <a:ext cx="110642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200" b="0">
                <a:solidFill>
                  <a:srgbClr val="898781"/>
                </a:solidFill>
                <a:latin typeface="Segoe UI"/>
              </a:rPr>
              <a:t>Ejercicio analítico independiente con datos públicos, para portfolio profesional. Banco [EMPRESA] es ficticio y el hogar de la historia es ilustrativo. No es asesoramiento financiero.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10000"/>
              </a:lnSpc>
            </a:pPr>
            <a:r>
              <a:rPr sz="1400" b="1">
                <a:solidFill>
                  <a:srgbClr val="0B0B0B"/>
                </a:solidFill>
                <a:latin typeface="Segoe UI"/>
              </a:rPr>
              <a:t>Santiago Trotta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Slides>16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¿Quién puede pagar hoy un crédito hipotecario UVA?</dc:title>
  <dc:subject>Caso de análisis de datos</dc:subject>
  <dc:creator>Santiago Trotta</dc:creator>
  <cp:keywords>crédito hipotecario, UVA, EPH, vivienda</cp:keywords>
  <dc:description/>
  <cp:lastModifiedBy>Santiago Trotta</cp:lastModifiedBy>
  <cp:revision>1</cp:revision>
  <dcterms:created xsi:type="dcterms:W3CDTF">2026-09-13T00:00:00Z</dcterms:created>
  <dcterms:modified xsi:type="dcterms:W3CDTF">2026-09-13T00:00:00Z</dcterms:modified>
  <cp:category/>
</cp:coreProperties>
</file>